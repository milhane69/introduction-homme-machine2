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D983"/>
    <a:srgbClr val="74B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17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43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28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52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576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658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38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783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18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31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083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B0D08-D1A8-4990-B53E-41387959E332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5F045-92B9-4474-B7BB-F7C2F48A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35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B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132080" y="80287"/>
            <a:ext cx="3372562" cy="654403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à coins arrondis 2"/>
          <p:cNvSpPr/>
          <p:nvPr/>
        </p:nvSpPr>
        <p:spPr>
          <a:xfrm>
            <a:off x="3706251" y="152400"/>
            <a:ext cx="4191150" cy="31683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à coins arrondis 3"/>
          <p:cNvSpPr/>
          <p:nvPr/>
        </p:nvSpPr>
        <p:spPr>
          <a:xfrm>
            <a:off x="3674264" y="3484880"/>
            <a:ext cx="4191150" cy="312263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8098178" y="152400"/>
            <a:ext cx="3931262" cy="321056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8098178" y="3484880"/>
            <a:ext cx="3931262" cy="313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0" name="Picture 6" descr="Images Persona : téléchargement gratuit sur Magnific (anciennement Freepik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r="20045"/>
          <a:stretch/>
        </p:blipFill>
        <p:spPr bwMode="auto">
          <a:xfrm>
            <a:off x="649676" y="699410"/>
            <a:ext cx="2225499" cy="235712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/>
          <p:cNvSpPr txBox="1"/>
          <p:nvPr/>
        </p:nvSpPr>
        <p:spPr>
          <a:xfrm flipH="1">
            <a:off x="282804" y="3413030"/>
            <a:ext cx="331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Age : 24 ans </a:t>
            </a:r>
          </a:p>
        </p:txBody>
      </p:sp>
      <p:sp>
        <p:nvSpPr>
          <p:cNvPr id="13" name="ZoneTexte 12"/>
          <p:cNvSpPr txBox="1"/>
          <p:nvPr/>
        </p:nvSpPr>
        <p:spPr>
          <a:xfrm flipH="1">
            <a:off x="282804" y="3101644"/>
            <a:ext cx="331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Nom : Sarah Benali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804" y="3782362"/>
            <a:ext cx="33157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Rôle</a:t>
            </a:r>
            <a:r>
              <a:rPr lang="fr-FR" sz="2000" b="1" dirty="0"/>
              <a:t> :</a:t>
            </a:r>
            <a:r>
              <a:rPr lang="fr-FR" sz="2000" dirty="0"/>
              <a:t> Assistante Business </a:t>
            </a:r>
            <a:r>
              <a:rPr lang="fr-FR" sz="2000" dirty="0" err="1"/>
              <a:t>Analyst</a:t>
            </a:r>
            <a:r>
              <a:rPr lang="fr-FR" sz="2000" dirty="0"/>
              <a:t> / Alternante en organisation d’événements sportifs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3287" y="4982691"/>
            <a:ext cx="31060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Niveau technologique </a:t>
            </a:r>
            <a:r>
              <a:rPr lang="fr-FR" sz="2000" b="1" dirty="0"/>
              <a:t>:</a:t>
            </a:r>
            <a:r>
              <a:rPr lang="fr-FR" sz="2000" dirty="0"/>
              <a:t> Élevé (utilise quotidiennement Python, SQL, Power BI, </a:t>
            </a:r>
            <a:r>
              <a:rPr lang="fr-FR" sz="2000" dirty="0" err="1"/>
              <a:t>Figma</a:t>
            </a:r>
            <a:r>
              <a:rPr lang="fr-FR" sz="2000" dirty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3938" y="150956"/>
            <a:ext cx="1744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Biographie :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1999" y="1005043"/>
            <a:ext cx="353568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Fin d'études en informatique décisionnelle.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Travaille sur un grand événement sportif hivernal.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Gère la donnée terrain : billetterie, flux spectateurs, KPI.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3818" y="3557232"/>
            <a:ext cx="2817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Objectifs principaux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2226" y="4273121"/>
            <a:ext cx="37752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Partager des tableaux de bord interactifs à son réseau.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Trouver son premier CDI dans l'événementiel sportif.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Créer un réseau d'experts "Data &amp; Sport".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1919" y="150614"/>
            <a:ext cx="2547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Contexte d'usage  :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 rot="10800000" flipV="1">
            <a:off x="8361575" y="1258609"/>
            <a:ext cx="352047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Travaille sur PC portable à son bureau ou en télétravail ; utilise l’application pour sa veille et trouver des missions.</a:t>
            </a:r>
            <a:endParaRPr lang="fr-FR" altLang="fr-FR" sz="2000" dirty="0"/>
          </a:p>
        </p:txBody>
      </p:sp>
      <p:sp>
        <p:nvSpPr>
          <p:cNvPr id="22" name="Rectangle 21"/>
          <p:cNvSpPr/>
          <p:nvPr/>
        </p:nvSpPr>
        <p:spPr>
          <a:xfrm>
            <a:off x="8662103" y="3536903"/>
            <a:ext cx="32199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Frustrations actuelles :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1206632" y="159016"/>
            <a:ext cx="1036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Profil : </a:t>
            </a:r>
            <a:endParaRPr lang="fr-FR" sz="2400" dirty="0"/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 rot="10800000" flipV="1">
            <a:off x="8170502" y="4047765"/>
            <a:ext cx="357529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Impossible de poster des graphiques interactifs (seulement des images).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Noyée dans les </a:t>
            </a:r>
            <a:r>
              <a:rPr lang="fr-FR" altLang="fr-FR" sz="2000" dirty="0" err="1"/>
              <a:t>posts</a:t>
            </a:r>
            <a:r>
              <a:rPr lang="fr-FR" altLang="fr-FR" sz="2000" dirty="0"/>
              <a:t> promotionnels inutiles.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Filtres de recherche d'emploi trop vagues.</a:t>
            </a:r>
          </a:p>
        </p:txBody>
      </p:sp>
    </p:spTree>
    <p:extLst>
      <p:ext uri="{BB962C8B-B14F-4D97-AF65-F5344CB8AC3E}">
        <p14:creationId xmlns:p14="http://schemas.microsoft.com/office/powerpoint/2010/main" val="3365077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B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132080" y="80287"/>
            <a:ext cx="3372562" cy="654403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à coins arrondis 2"/>
          <p:cNvSpPr/>
          <p:nvPr/>
        </p:nvSpPr>
        <p:spPr>
          <a:xfrm>
            <a:off x="3706251" y="152400"/>
            <a:ext cx="4191150" cy="31683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à coins arrondis 3"/>
          <p:cNvSpPr/>
          <p:nvPr/>
        </p:nvSpPr>
        <p:spPr>
          <a:xfrm>
            <a:off x="3674264" y="3484880"/>
            <a:ext cx="4191150" cy="312263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8098178" y="152400"/>
            <a:ext cx="3931262" cy="321056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8098178" y="3484880"/>
            <a:ext cx="3931262" cy="313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 flipH="1">
            <a:off x="282804" y="3676986"/>
            <a:ext cx="331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Age : 36 ans </a:t>
            </a:r>
          </a:p>
        </p:txBody>
      </p:sp>
      <p:sp>
        <p:nvSpPr>
          <p:cNvPr id="13" name="ZoneTexte 12"/>
          <p:cNvSpPr txBox="1"/>
          <p:nvPr/>
        </p:nvSpPr>
        <p:spPr>
          <a:xfrm flipH="1">
            <a:off x="282804" y="3365600"/>
            <a:ext cx="331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Nom : Julien Mercier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804" y="4046318"/>
            <a:ext cx="33157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Rôle</a:t>
            </a:r>
            <a:r>
              <a:rPr lang="fr-FR" sz="2000" b="1" dirty="0"/>
              <a:t> :</a:t>
            </a:r>
            <a:r>
              <a:rPr lang="fr-FR" sz="2000" dirty="0"/>
              <a:t> Coordinateur Logistique et Opérations de 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419" y="4753333"/>
            <a:ext cx="31060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Niveau technologique </a:t>
            </a:r>
            <a:r>
              <a:rPr lang="fr-FR" sz="2000" b="1" dirty="0"/>
              <a:t>:</a:t>
            </a:r>
            <a:r>
              <a:rPr lang="fr-FR" sz="2000" dirty="0"/>
              <a:t> Moyen (outils collaboratifs, bureautique, mobile)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3938" y="150956"/>
            <a:ext cx="1744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Biographie :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1999" y="656255"/>
            <a:ext cx="353568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Gère la logistique et les accès sur les sites de compétition.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Coordonne les prestataires, les navettes et les équipes de régie.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Doit recruter des renforts en urgence lors des pics d'activité.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3818" y="3557232"/>
            <a:ext cx="2817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Objectifs principaux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2226" y="4188278"/>
            <a:ext cx="37752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Publier des missions courtes et urgentes en quelques clics.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Cibler des candidats qui connaissent les contraintes du terrain.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Contacter les profils qualifiés directement par messagerie.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1919" y="150614"/>
            <a:ext cx="2547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Contexte d'usage  :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 rot="10800000" flipV="1">
            <a:off x="8361575" y="1104721"/>
            <a:ext cx="352047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Utilisation hybride : sur smartphone directement sur les sites d'épreuves, ou sur PC portable au quartier général opérationnel.</a:t>
            </a:r>
            <a:endParaRPr lang="fr-FR" altLang="fr-FR" sz="2000" dirty="0"/>
          </a:p>
        </p:txBody>
      </p:sp>
      <p:sp>
        <p:nvSpPr>
          <p:cNvPr id="22" name="Rectangle 21"/>
          <p:cNvSpPr/>
          <p:nvPr/>
        </p:nvSpPr>
        <p:spPr>
          <a:xfrm>
            <a:off x="8662103" y="3536903"/>
            <a:ext cx="32199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Frustrations actuelles :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1206632" y="159016"/>
            <a:ext cx="1036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Profil : </a:t>
            </a:r>
            <a:endParaRPr lang="fr-FR" sz="2400" dirty="0"/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 rot="10800000" flipV="1">
            <a:off x="8198783" y="4007001"/>
            <a:ext cx="357529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Reçoit trop de CV non qualifiés sur les réseaux généralistes.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Processus de tri et de contact trop lent sur mobile.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Difficulté à vérifier la disponibilité réelle et immédiate des candidats.</a:t>
            </a:r>
          </a:p>
        </p:txBody>
      </p:sp>
      <p:pic>
        <p:nvPicPr>
          <p:cNvPr id="2052" name="Picture 4" descr="Images Persona : téléchargement gratuit sur Magnific (anciennement Freepik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96" r="8720"/>
          <a:stretch/>
        </p:blipFill>
        <p:spPr bwMode="auto">
          <a:xfrm>
            <a:off x="558474" y="748645"/>
            <a:ext cx="2333166" cy="2272626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29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B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132080" y="80287"/>
            <a:ext cx="3372562" cy="654403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à coins arrondis 2"/>
          <p:cNvSpPr/>
          <p:nvPr/>
        </p:nvSpPr>
        <p:spPr>
          <a:xfrm>
            <a:off x="3706251" y="152400"/>
            <a:ext cx="4191150" cy="316831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à coins arrondis 3"/>
          <p:cNvSpPr/>
          <p:nvPr/>
        </p:nvSpPr>
        <p:spPr>
          <a:xfrm>
            <a:off x="3674264" y="3484880"/>
            <a:ext cx="4191150" cy="312263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8098178" y="152400"/>
            <a:ext cx="3931262" cy="321056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8098178" y="3484880"/>
            <a:ext cx="3931262" cy="313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 flipH="1">
            <a:off x="282804" y="3676986"/>
            <a:ext cx="331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Age : 43 ans</a:t>
            </a:r>
          </a:p>
        </p:txBody>
      </p:sp>
      <p:sp>
        <p:nvSpPr>
          <p:cNvPr id="13" name="ZoneTexte 12"/>
          <p:cNvSpPr txBox="1"/>
          <p:nvPr/>
        </p:nvSpPr>
        <p:spPr>
          <a:xfrm flipH="1">
            <a:off x="282804" y="3365600"/>
            <a:ext cx="331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Nom : Marc Leclerc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804" y="4046318"/>
            <a:ext cx="33157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Rôle</a:t>
            </a:r>
            <a:r>
              <a:rPr lang="fr-FR" sz="2000" b="1" dirty="0"/>
              <a:t> :</a:t>
            </a:r>
            <a:r>
              <a:rPr lang="fr-FR" sz="2000" dirty="0"/>
              <a:t> Directeur Délégué aux Transports et Mobilités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419" y="4753333"/>
            <a:ext cx="31692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Niveau technologique </a:t>
            </a:r>
            <a:r>
              <a:rPr lang="fr-FR" sz="2000" b="1" dirty="0"/>
              <a:t>:</a:t>
            </a:r>
            <a:r>
              <a:rPr lang="fr-FR" sz="2000" dirty="0"/>
              <a:t> Intermédiaire (tablette tactile, e-mails, </a:t>
            </a:r>
            <a:r>
              <a:rPr lang="fr-FR" sz="2000" dirty="0" err="1"/>
              <a:t>dashboards</a:t>
            </a:r>
            <a:r>
              <a:rPr lang="fr-FR" sz="2000"/>
              <a:t>)</a:t>
            </a:r>
            <a:endParaRPr lang="fr-FR" sz="2000" dirty="0"/>
          </a:p>
        </p:txBody>
      </p:sp>
      <p:sp>
        <p:nvSpPr>
          <p:cNvPr id="12" name="Rectangle 11"/>
          <p:cNvSpPr/>
          <p:nvPr/>
        </p:nvSpPr>
        <p:spPr>
          <a:xfrm>
            <a:off x="5003938" y="150956"/>
            <a:ext cx="17445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Biographie :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9923" y="666119"/>
            <a:ext cx="394879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Supervise les comités de pilotage pour de grands événements internationaux.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Coordonne les exploitants de transport, les collectivités et l'État.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Pilote la stratégie globale des flux de spectateurs à grande échelle.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3818" y="3557232"/>
            <a:ext cx="2817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Objectifs principaux 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2226" y="4103435"/>
            <a:ext cx="37752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Réaliser une veille ciblée sur les innovations de gestion de foule.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Consulter des synthèses visuelles (KPI) fiables en quelques secondes.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fr-FR" sz="2000" dirty="0"/>
              <a:t>Identifier des experts reconnus pour des missions de conseil.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1919" y="150614"/>
            <a:ext cx="2547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Contexte d'usage  :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 rot="10800000" flipV="1">
            <a:off x="8361575" y="1104721"/>
            <a:ext cx="352047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En mobilité permanente entre deux réunions ou déplacements ; consulte l'application principalement sur tablette tactile (iPad).</a:t>
            </a:r>
            <a:endParaRPr lang="fr-FR" altLang="fr-FR" sz="2000" dirty="0"/>
          </a:p>
        </p:txBody>
      </p:sp>
      <p:sp>
        <p:nvSpPr>
          <p:cNvPr id="22" name="Rectangle 21"/>
          <p:cNvSpPr/>
          <p:nvPr/>
        </p:nvSpPr>
        <p:spPr>
          <a:xfrm>
            <a:off x="8662103" y="3536903"/>
            <a:ext cx="32199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Frustrations actuelles :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1206632" y="159016"/>
            <a:ext cx="1036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6">
                    <a:lumMod val="75000"/>
                  </a:schemeClr>
                </a:solidFill>
              </a:rPr>
              <a:t>Profil : </a:t>
            </a:r>
            <a:endParaRPr lang="fr-FR" sz="2400" dirty="0"/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 rot="10800000" flipV="1">
            <a:off x="8198783" y="3950439"/>
            <a:ext cx="357529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Interfaces surchargées d'informations inutiles et de publicités.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Manque de données chiffrées, rigoureuses et </a:t>
            </a:r>
            <a:r>
              <a:rPr lang="fr-FR" altLang="fr-FR" sz="2000" dirty="0" err="1"/>
              <a:t>sourcées</a:t>
            </a:r>
            <a:r>
              <a:rPr lang="fr-FR" altLang="fr-FR" sz="2000" dirty="0"/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altLang="fr-FR" sz="2000" dirty="0"/>
              <a:t>Notifications intrusives qui polluent la veille stratégique.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/>
          <a:srcRect l="16208" r="11170" b="8774"/>
          <a:stretch/>
        </p:blipFill>
        <p:spPr>
          <a:xfrm>
            <a:off x="569976" y="633158"/>
            <a:ext cx="2329852" cy="2461587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9866013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Grand écran</PresentationFormat>
  <Paragraphs>57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jojo</dc:creator>
  <cp:lastModifiedBy>Milhane RABEHI</cp:lastModifiedBy>
  <cp:revision>9</cp:revision>
  <dcterms:created xsi:type="dcterms:W3CDTF">2026-10-01T14:25:23Z</dcterms:created>
  <dcterms:modified xsi:type="dcterms:W3CDTF">2026-10-12T19:18:34Z</dcterms:modified>
</cp:coreProperties>
</file>